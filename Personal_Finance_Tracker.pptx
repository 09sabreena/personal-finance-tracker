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Rupees</c:v>
                </c:pt>
              </c:strCache>
            </c:strRef>
          </c:tx>
          <c:spPr>
            <a:solidFill>
              <a:srgbClr val="1B3A4B"/>
            </a:solidFill>
          </c:spPr>
          <c:dPt>
            <c:idx val="0"/>
            <c:spPr>
              <a:solidFill>
                <a:srgbClr val="1B3A4B"/>
              </a:solidFill>
              <a:ln>
                <a:noFill/>
              </a:ln>
            </c:spPr>
          </c:dPt>
          <c:dPt>
            <c:idx val="1"/>
            <c:spPr>
              <a:solidFill>
                <a:srgbClr val="8C4A3A"/>
              </a:solidFill>
              <a:ln>
                <a:noFill/>
              </a:ln>
            </c:spPr>
          </c:dPt>
          <c:dPt>
            <c:idx val="2"/>
            <c:spPr>
              <a:solidFill>
                <a:srgbClr val="2F6F6A"/>
              </a:solidFill>
              <a:ln>
                <a:noFill/>
              </a:ln>
            </c:spPr>
          </c:dPt>
          <c:cat>
            <c:strRef>
              <c:f>Sheet1!$A$2:$A$4</c:f>
              <c:strCache>
                <c:ptCount val="3"/>
                <c:pt idx="0">
                  <c:v>Income</c:v>
                </c:pt>
                <c:pt idx="1">
                  <c:v>Expense</c:v>
                </c:pt>
                <c:pt idx="2">
                  <c:v>Saved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72000</c:v>
                </c:pt>
                <c:pt idx="1">
                  <c:v>41250</c:v>
                </c:pt>
                <c:pt idx="2">
                  <c:v>30750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 b="1">
                  <a:solidFill>
                    <a:srgbClr val="1A1F26"/>
                  </a:solidFill>
                  <a:latin typeface="Liberation Sa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2DED6"/>
            </a:solidFill>
          </a:ln>
        </c:spPr>
        <c:txPr>
          <a:bodyPr/>
          <a:lstStyle/>
          <a:p>
            <a:pPr>
              <a:defRPr sz="1200">
                <a:solidFill>
                  <a:srgbClr val="1A1F26"/>
                </a:solidFill>
                <a:latin typeface="Liberation San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E2DED6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A636C"/>
                </a:solidFill>
                <a:latin typeface="Liberation San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Spend</c:v>
                </c:pt>
              </c:strCache>
            </c:strRef>
          </c:tx>
          <c:dPt>
            <c:idx val="0"/>
            <c:spPr>
              <a:solidFill>
                <a:srgbClr val="1B3A4B"/>
              </a:solidFill>
              <a:ln>
                <a:noFill/>
              </a:ln>
            </c:spPr>
          </c:dPt>
          <c:dPt>
            <c:idx val="1"/>
            <c:spPr>
              <a:solidFill>
                <a:srgbClr val="2F6F6A"/>
              </a:solidFill>
              <a:ln>
                <a:noFill/>
              </a:ln>
            </c:spPr>
          </c:dPt>
          <c:dPt>
            <c:idx val="2"/>
            <c:spPr>
              <a:solidFill>
                <a:srgbClr val="C4A35A"/>
              </a:solidFill>
              <a:ln>
                <a:noFill/>
              </a:ln>
            </c:spPr>
          </c:dPt>
          <c:dPt>
            <c:idx val="3"/>
            <c:spPr>
              <a:solidFill>
                <a:srgbClr val="8C4A3A"/>
              </a:solidFill>
              <a:ln>
                <a:noFill/>
              </a:ln>
            </c:spPr>
          </c:dPt>
          <c:dPt>
            <c:idx val="4"/>
            <c:spPr>
              <a:solidFill>
                <a:srgbClr val="8A9199"/>
              </a:solidFill>
              <a:ln>
                <a:noFill/>
              </a:ln>
            </c:spPr>
          </c:dPt>
          <c:cat>
            <c:strRef>
              <c:f>Sheet1!$A$2:$A$6</c:f>
              <c:strCache>
                <c:ptCount val="5"/>
                <c:pt idx="0">
                  <c:v>Rent</c:v>
                </c:pt>
                <c:pt idx="1">
                  <c:v>Food</c:v>
                </c:pt>
                <c:pt idx="2">
                  <c:v>Transport</c:v>
                </c:pt>
                <c:pt idx="3">
                  <c:v>Utilities</c:v>
                </c:pt>
                <c:pt idx="4">
                  <c:v>Other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18000</c:v>
                </c:pt>
                <c:pt idx="1">
                  <c:v>9400</c:v>
                </c:pt>
                <c:pt idx="2">
                  <c:v>6200</c:v>
                </c:pt>
                <c:pt idx="3">
                  <c:v>4150</c:v>
                </c:pt>
                <c:pt idx="4">
                  <c:v>3500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100" b="1">
                  <a:solidFill>
                    <a:srgbClr val="1A1F26"/>
                  </a:solidFill>
                  <a:latin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200">
              <a:solidFill>
                <a:srgbClr val="1A1F26"/>
              </a:solidFill>
              <a:latin typeface="Liberation Sans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916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1B3A4B"/>
                </a:solidFill>
                <a:latin typeface="Liberation Sans"/>
              </a:rPr>
              <a:t>CORE JAVA  ·  ACADEMIC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57400"/>
            <a:ext cx="10515600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4800" b="0" i="0">
                <a:solidFill>
                  <a:srgbClr val="1A1F26"/>
                </a:solidFill>
                <a:latin typeface="Liberation Serif"/>
              </a:rPr>
              <a:t>Personal Finance Tracker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703320"/>
            <a:ext cx="868680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0" i="0">
                <a:solidFill>
                  <a:srgbClr val="5A636C"/>
                </a:solidFill>
                <a:latin typeface="Liberation Sans"/>
              </a:rPr>
              <a:t>A console application that records income and expenditure,
analyses a month by category, and exports a CSV summary.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4754880"/>
            <a:ext cx="2926080" cy="9525"/>
          </a:xfrm>
          <a:prstGeom prst="rect">
            <a:avLst/>
          </a:prstGeom>
          <a:solidFill>
            <a:srgbClr val="E2D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983480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 i="0">
                <a:solidFill>
                  <a:srgbClr val="1A1F26"/>
                </a:solidFill>
                <a:latin typeface="Liberation Sans"/>
              </a:rPr>
              <a:t>Java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303520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5A636C"/>
                </a:solidFill>
                <a:latin typeface="Liberation Sans"/>
              </a:rPr>
              <a:t>Language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80" y="4983480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 i="0">
                <a:solidFill>
                  <a:srgbClr val="1A1F26"/>
                </a:solidFill>
                <a:latin typeface="Liberation Sans"/>
              </a:rPr>
              <a:t>Streams and HashMap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5303520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5A636C"/>
                </a:solidFill>
                <a:latin typeface="Liberation Sans"/>
              </a:rPr>
              <a:t>Aggregation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4983480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 i="0">
                <a:solidFill>
                  <a:srgbClr val="1A1F26"/>
                </a:solidFill>
                <a:latin typeface="Liberation Sans"/>
              </a:rPr>
              <a:t>CSV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5303520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5A636C"/>
                </a:solidFill>
                <a:latin typeface="Liberation Sans"/>
              </a:rPr>
              <a:t>Month-end output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91440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B3A4B"/>
                </a:solidFill>
                <a:latin typeface="Liberation Sans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200" b="0" i="0">
                <a:solidFill>
                  <a:srgbClr val="1A1F26"/>
                </a:solidFill>
                <a:latin typeface="Liberation Serif"/>
              </a:rPr>
              <a:t>How the deck is organised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0" i="0">
                <a:solidFill>
                  <a:srgbClr val="1B3A4B"/>
                </a:solidFill>
                <a:latin typeface="Liberation Serif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600200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0" i="0">
                <a:solidFill>
                  <a:srgbClr val="1A1F26"/>
                </a:solidFill>
                <a:latin typeface="Liberation Serif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98424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5A636C"/>
                </a:solidFill>
                <a:latin typeface="Liberation Sans"/>
              </a:rPr>
              <a:t>Three questions a spreadsheet does not answer cleanly.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2468880"/>
            <a:ext cx="9601200" cy="9525"/>
          </a:xfrm>
          <a:prstGeom prst="rect">
            <a:avLst/>
          </a:prstGeom>
          <a:solidFill>
            <a:srgbClr val="E2D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697480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0" i="0">
                <a:solidFill>
                  <a:srgbClr val="1B3A4B"/>
                </a:solidFill>
                <a:latin typeface="Liberation Serif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697480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0" i="0">
                <a:solidFill>
                  <a:srgbClr val="1A1F26"/>
                </a:solidFill>
                <a:latin typeface="Liberation Serif"/>
              </a:rPr>
              <a:t>What was built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08152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5A636C"/>
                </a:solidFill>
                <a:latin typeface="Liberation Sans"/>
              </a:rPr>
              <a:t>Four modules, mapped to the classes that implement them.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3566160"/>
            <a:ext cx="9601200" cy="9525"/>
          </a:xfrm>
          <a:prstGeom prst="rect">
            <a:avLst/>
          </a:prstGeom>
          <a:solidFill>
            <a:srgbClr val="E2D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94760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0" i="0">
                <a:solidFill>
                  <a:srgbClr val="1B3A4B"/>
                </a:solidFill>
                <a:latin typeface="Liberation Serif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794760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0" i="0">
                <a:solidFill>
                  <a:srgbClr val="1A1F26"/>
                </a:solidFill>
                <a:latin typeface="Liberation Serif"/>
              </a:rPr>
              <a:t>How it works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17880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5A636C"/>
                </a:solidFill>
                <a:latin typeface="Liberation Sans"/>
              </a:rPr>
              <a:t>The transaction model, the stream pipelines, and the file formats.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0" y="4663440"/>
            <a:ext cx="9601200" cy="9525"/>
          </a:xfrm>
          <a:prstGeom prst="rect">
            <a:avLst/>
          </a:prstGeom>
          <a:solidFill>
            <a:srgbClr val="E2D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892040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0" i="0">
                <a:solidFill>
                  <a:srgbClr val="1B3A4B"/>
                </a:solidFill>
                <a:latin typeface="Liberation Serif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892040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0" i="0">
                <a:solidFill>
                  <a:srgbClr val="1A1F26"/>
                </a:solidFill>
                <a:latin typeface="Liberation Serif"/>
              </a:rPr>
              <a:t>How to defend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276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5A636C"/>
                </a:solidFill>
                <a:latin typeface="Liberation Sans"/>
              </a:rPr>
              <a:t>A sample month, the CSV, and the questions a viva will ask.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6446520"/>
            <a:ext cx="10908792" cy="9525"/>
          </a:xfrm>
          <a:prstGeom prst="rect">
            <a:avLst/>
          </a:prstGeom>
          <a:solidFill>
            <a:srgbClr val="E2D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6510528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5A636C"/>
                </a:solidFill>
                <a:latin typeface="Liberation Sans"/>
              </a:rPr>
              <a:t>Personal Finance Tracker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6510528"/>
            <a:ext cx="2039112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 i="0">
                <a:solidFill>
                  <a:srgbClr val="5A636C"/>
                </a:solidFill>
                <a:latin typeface="Liberation Sans"/>
              </a:rPr>
              <a:t>2  / 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91440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B3A4B"/>
                </a:solidFill>
                <a:latin typeface="Liberation Sans"/>
              </a:rPr>
              <a:t>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200" b="0" i="0">
                <a:solidFill>
                  <a:srgbClr val="1A1F26"/>
                </a:solidFill>
                <a:latin typeface="Liberation Serif"/>
              </a:rPr>
              <a:t>The month-end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5A636C"/>
                </a:solidFill>
                <a:latin typeface="Liberation Sans"/>
              </a:rPr>
              <a:t>Notes and spreadsheets record transactions. They do not, by themselves, answer the questions a monthly review needs.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54864" cy="10058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0" i="0">
                <a:solidFill>
                  <a:srgbClr val="1A1F26"/>
                </a:solidFill>
                <a:latin typeface="Liberation Serif"/>
              </a:rPr>
              <a:t>Where did the money go?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770632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5A636C"/>
                </a:solidFill>
                <a:latin typeface="Liberation Sans"/>
              </a:rPr>
              <a:t>Spend is split across categories. Without a grouped total, the largest category is a guess.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611879"/>
            <a:ext cx="54864" cy="10058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611879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0" i="0">
                <a:solidFill>
                  <a:srgbClr val="1A1F26"/>
                </a:solidFill>
                <a:latin typeface="Liberation Serif"/>
              </a:rPr>
              <a:t>Did any category break its limit?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050791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5A636C"/>
                </a:solidFill>
                <a:latin typeface="Liberation Sans"/>
              </a:rPr>
              <a:t>A budget that lives only in memory cannot be compared with what was actually spent.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892040"/>
            <a:ext cx="54864" cy="10058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8920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0" i="0">
                <a:solidFill>
                  <a:srgbClr val="1A1F26"/>
                </a:solidFill>
                <a:latin typeface="Liberation Serif"/>
              </a:rPr>
              <a:t>Can the month be handed to someone else?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5330952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5A636C"/>
                </a:solidFill>
                <a:latin typeface="Liberation Sans"/>
              </a:rPr>
              <a:t>A summary has to open in Excel without a custom viewer: totals, categories, and every line.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6446520"/>
            <a:ext cx="10908792" cy="9525"/>
          </a:xfrm>
          <a:prstGeom prst="rect">
            <a:avLst/>
          </a:prstGeom>
          <a:solidFill>
            <a:srgbClr val="E2D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6510528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5A636C"/>
                </a:solidFill>
                <a:latin typeface="Liberation Sans"/>
              </a:rPr>
              <a:t>Personal Finance Tracker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6510528"/>
            <a:ext cx="2039112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 i="0">
                <a:solidFill>
                  <a:srgbClr val="5A636C"/>
                </a:solidFill>
                <a:latin typeface="Liberation Sans"/>
              </a:rPr>
              <a:t>3  / 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91440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B3A4B"/>
                </a:solidFill>
                <a:latin typeface="Liberation Sans"/>
              </a:rPr>
              <a:t>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200" b="0" i="0">
                <a:solidFill>
                  <a:srgbClr val="1A1F26"/>
                </a:solidFill>
                <a:latin typeface="Liberation Serif"/>
              </a:rPr>
              <a:t>What the program is required to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>
                <a:solidFill>
                  <a:srgbClr val="1B3A4B"/>
                </a:solidFill>
                <a:latin typeface="Liberation San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20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0" i="0">
                <a:solidFill>
                  <a:srgbClr val="1A1F26"/>
                </a:solidFill>
                <a:latin typeface="Liberation Serif"/>
              </a:rPr>
              <a:t>Record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23160"/>
            <a:ext cx="352044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5A636C"/>
                </a:solidFill>
                <a:latin typeface="Liberation Sans"/>
              </a:rPr>
              <a:t>A dated income or expense, with category, amount, and a short note. Invalid input is rejected before it is stored.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155448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>
                <a:solidFill>
                  <a:srgbClr val="1B3A4B"/>
                </a:solidFill>
                <a:latin typeface="Liberation San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1874520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0" i="0">
                <a:solidFill>
                  <a:srgbClr val="1A1F26"/>
                </a:solidFill>
                <a:latin typeface="Liberation Serif"/>
              </a:rPr>
              <a:t>Analyse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2423160"/>
            <a:ext cx="352044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5A636C"/>
                </a:solidFill>
                <a:latin typeface="Liberation Sans"/>
              </a:rPr>
              <a:t>For any month: total income, total expense, net balance, spend by category, and the largest categories.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55448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>
                <a:solidFill>
                  <a:srgbClr val="1B3A4B"/>
                </a:solidFill>
                <a:latin typeface="Liberation San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874520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0" i="0">
                <a:solidFill>
                  <a:srgbClr val="1A1F26"/>
                </a:solidFill>
                <a:latin typeface="Liberation Serif"/>
              </a:rPr>
              <a:t>Compare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423160"/>
            <a:ext cx="352044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5A636C"/>
                </a:solidFill>
                <a:latin typeface="Liberation Sans"/>
              </a:rPr>
              <a:t>A monthly limit per category, checked against actual spend, with a named warning when the limit is passed.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4048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>
                <a:solidFill>
                  <a:srgbClr val="1B3A4B"/>
                </a:solidFill>
                <a:latin typeface="Liberation Sans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160520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0" i="0">
                <a:solidFill>
                  <a:srgbClr val="1A1F26"/>
                </a:solidFill>
                <a:latin typeface="Liberation Serif"/>
              </a:rPr>
              <a:t>Export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709160"/>
            <a:ext cx="352044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5A636C"/>
                </a:solidFill>
                <a:latin typeface="Liberation Sans"/>
              </a:rPr>
              <a:t>One CSV per month: a snapshot, a category table, and the underlying transactions.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384048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>
                <a:solidFill>
                  <a:srgbClr val="1B3A4B"/>
                </a:solidFill>
                <a:latin typeface="Liberation Sans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4160520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0" i="0">
                <a:solidFill>
                  <a:srgbClr val="1A1F26"/>
                </a:solidFill>
                <a:latin typeface="Liberation Serif"/>
              </a:rPr>
              <a:t>Keep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4709160"/>
            <a:ext cx="352044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5A636C"/>
                </a:solidFill>
                <a:latin typeface="Liberation Sans"/>
              </a:rPr>
              <a:t>The ledger survives a restart. Persistence uses the JDK only — no database and no third-party library.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84048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>
                <a:solidFill>
                  <a:srgbClr val="1B3A4B"/>
                </a:solidFill>
                <a:latin typeface="Liberation Sans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160520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0" i="0">
                <a:solidFill>
                  <a:srgbClr val="1A1F26"/>
                </a:solidFill>
                <a:latin typeface="Liberation Serif"/>
              </a:rPr>
              <a:t>Show the skill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709160"/>
            <a:ext cx="352044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5A636C"/>
                </a:solidFill>
                <a:latin typeface="Liberation Sans"/>
              </a:rPr>
              <a:t>Filtering, summing, and grouping are done with the Stream API and Collectors, not with hand-rolled loops.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6446520"/>
            <a:ext cx="10908792" cy="9525"/>
          </a:xfrm>
          <a:prstGeom prst="rect">
            <a:avLst/>
          </a:prstGeom>
          <a:solidFill>
            <a:srgbClr val="E2D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510528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5A636C"/>
                </a:solidFill>
                <a:latin typeface="Liberation Sans"/>
              </a:rPr>
              <a:t>Personal Finance Tracker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6510528"/>
            <a:ext cx="2039112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 i="0">
                <a:solidFill>
                  <a:srgbClr val="5A636C"/>
                </a:solidFill>
                <a:latin typeface="Liberation Sans"/>
              </a:rPr>
              <a:t>4  / 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91440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B3A4B"/>
                </a:solidFill>
                <a:latin typeface="Liberation Sans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200" b="0" i="0">
                <a:solidFill>
                  <a:srgbClr val="1A1F26"/>
                </a:solidFill>
                <a:latin typeface="Liberation Serif"/>
              </a:rPr>
              <a:t>Four modules, one list of transactions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5A636C"/>
                </a:solidFill>
                <a:latin typeface="Liberation Sans"/>
              </a:rPr>
              <a:t>Every report reads the same list. Nothing is stored twice.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B3A4B"/>
                </a:solidFill>
                <a:latin typeface="Liberation Sans"/>
              </a:rPr>
              <a:t>MODULE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96596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B3A4B"/>
                </a:solidFill>
                <a:latin typeface="Liberation Sans"/>
              </a:rPr>
              <a:t>CLASS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96596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B3A4B"/>
                </a:solidFill>
                <a:latin typeface="Liberation Sans"/>
              </a:rPr>
              <a:t>RESPONSIBILITY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286000"/>
            <a:ext cx="10908792" cy="9525"/>
          </a:xfrm>
          <a:prstGeom prst="rect">
            <a:avLst/>
          </a:prstGeom>
          <a:solidFill>
            <a:srgbClr val="E2D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46888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00" b="0" i="0">
                <a:solidFill>
                  <a:srgbClr val="1A1F26"/>
                </a:solidFill>
                <a:latin typeface="Liberation Serif"/>
              </a:rPr>
              <a:t>Transaction entry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46888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400" b="0" i="0">
                <a:solidFill>
                  <a:srgbClr val="1B3A4B"/>
                </a:solidFill>
                <a:latin typeface="Liberation Mono"/>
              </a:rPr>
              <a:t>TransactionService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468880"/>
            <a:ext cx="4206240" cy="777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400" b="0" i="0">
                <a:solidFill>
                  <a:srgbClr val="5A636C"/>
                </a:solidFill>
                <a:latin typeface="Liberation Sans"/>
              </a:rPr>
              <a:t>Validates the date, the text, and the amount. Appends the transaction and writes the file.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291840"/>
            <a:ext cx="10908792" cy="9525"/>
          </a:xfrm>
          <a:prstGeom prst="rect">
            <a:avLst/>
          </a:prstGeom>
          <a:solidFill>
            <a:srgbClr val="E2D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38328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00" b="0" i="0">
                <a:solidFill>
                  <a:srgbClr val="1A1F26"/>
                </a:solidFill>
                <a:latin typeface="Liberation Serif"/>
              </a:rPr>
              <a:t>Category aggregator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38328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400" b="0" i="0">
                <a:solidFill>
                  <a:srgbClr val="1B3A4B"/>
                </a:solidFill>
                <a:latin typeface="Liberation Mono"/>
              </a:rPr>
              <a:t>CategoryAggregator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3383280"/>
            <a:ext cx="4206240" cy="777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400" b="0" i="0">
                <a:solidFill>
                  <a:srgbClr val="5A636C"/>
                </a:solidFill>
                <a:latin typeface="Liberation Sans"/>
              </a:rPr>
              <a:t>Groups the month’s expenses and computes each category’s share of the total.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206240"/>
            <a:ext cx="10908792" cy="9525"/>
          </a:xfrm>
          <a:prstGeom prst="rect">
            <a:avLst/>
          </a:prstGeom>
          <a:solidFill>
            <a:srgbClr val="E2D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29768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00" b="0" i="0">
                <a:solidFill>
                  <a:srgbClr val="1A1F26"/>
                </a:solidFill>
                <a:latin typeface="Liberation Serif"/>
              </a:rPr>
              <a:t>Budget tracker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429768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400" b="0" i="0">
                <a:solidFill>
                  <a:srgbClr val="1B3A4B"/>
                </a:solidFill>
                <a:latin typeface="Liberation Mono"/>
              </a:rPr>
              <a:t>BudgetGoalTracker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4297680"/>
            <a:ext cx="4206240" cy="777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400" b="0" i="0">
                <a:solidFill>
                  <a:srgbClr val="5A636C"/>
                </a:solidFill>
                <a:latin typeface="Liberation Sans"/>
              </a:rPr>
              <a:t>Holds a limit per category and reports which limits the month has crossed.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120640"/>
            <a:ext cx="10908792" cy="9525"/>
          </a:xfrm>
          <a:prstGeom prst="rect">
            <a:avLst/>
          </a:prstGeom>
          <a:solidFill>
            <a:srgbClr val="E2D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21208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00" b="0" i="0">
                <a:solidFill>
                  <a:srgbClr val="1A1F26"/>
                </a:solidFill>
                <a:latin typeface="Liberation Serif"/>
              </a:rPr>
              <a:t>CSV export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521208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400" b="0" i="0">
                <a:solidFill>
                  <a:srgbClr val="1B3A4B"/>
                </a:solidFill>
                <a:latin typeface="Liberation Mono"/>
              </a:rPr>
              <a:t>CsvExportEngine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5212080"/>
            <a:ext cx="4206240" cy="777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400" b="0" i="0">
                <a:solidFill>
                  <a:srgbClr val="5A636C"/>
                </a:solidFill>
                <a:latin typeface="Liberation Sans"/>
              </a:rPr>
              <a:t>Writes the snapshot, the category table, and the line items for one YearMonth.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6446520"/>
            <a:ext cx="10908792" cy="9525"/>
          </a:xfrm>
          <a:prstGeom prst="rect">
            <a:avLst/>
          </a:prstGeom>
          <a:solidFill>
            <a:srgbClr val="E2D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6510528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5A636C"/>
                </a:solidFill>
                <a:latin typeface="Liberation Sans"/>
              </a:rPr>
              <a:t>Personal Finance Tracker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6510528"/>
            <a:ext cx="2039112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 i="0">
                <a:solidFill>
                  <a:srgbClr val="5A636C"/>
                </a:solidFill>
                <a:latin typeface="Liberation Sans"/>
              </a:rPr>
              <a:t>5  / 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91440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B3A4B"/>
                </a:solidFill>
                <a:latin typeface="Liberation Sans"/>
              </a:rPr>
              <a:t>CODE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200" b="0" i="0">
                <a:solidFill>
                  <a:srgbClr val="1A1F26"/>
                </a:solidFill>
                <a:latin typeface="Liberation Serif"/>
              </a:rPr>
              <a:t>Packages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89888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B3A4B"/>
                </a:solidFill>
                <a:latin typeface="Liberation Sans"/>
              </a:rPr>
              <a:t>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1389888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B3A4B"/>
                </a:solidFill>
                <a:latin typeface="Liberation Sans"/>
              </a:rPr>
              <a:t>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13898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B3A4B"/>
                </a:solidFill>
                <a:latin typeface="Liberation Sans"/>
              </a:rPr>
              <a:t>WHAT IT OWNS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19072"/>
            <a:ext cx="10908792" cy="9525"/>
          </a:xfrm>
          <a:prstGeom prst="rect">
            <a:avLst/>
          </a:prstGeom>
          <a:solidFill>
            <a:srgbClr val="E2D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47088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400" b="1" i="0">
                <a:solidFill>
                  <a:srgbClr val="1B3A4B"/>
                </a:solidFill>
                <a:latin typeface="Liberation Sans"/>
              </a:rPr>
              <a:t>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1847088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400" b="0" i="0">
                <a:solidFill>
                  <a:srgbClr val="1A1F26"/>
                </a:solidFill>
                <a:latin typeface="Liberation Sans"/>
              </a:rPr>
              <a:t>Transaction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1847088"/>
            <a:ext cx="5760720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400" b="0" i="0">
                <a:solidFill>
                  <a:srgbClr val="5A636C"/>
                </a:solidFill>
                <a:latin typeface="Liberation Sans"/>
              </a:rPr>
              <a:t>Immutable. Id, date, type, category, positive amount, description.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7744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400" b="1" i="0">
                <a:solidFill>
                  <a:srgbClr val="1B3A4B"/>
                </a:solidFill>
                <a:latin typeface="Liberation Sans"/>
              </a:rPr>
              <a:t>service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37744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400" b="0" i="0">
                <a:solidFill>
                  <a:srgbClr val="1A1F26"/>
                </a:solidFill>
                <a:latin typeface="Liberation Sans"/>
              </a:rPr>
              <a:t>TransactionService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2377440"/>
            <a:ext cx="5760720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400" b="0" i="0">
                <a:solidFill>
                  <a:srgbClr val="5A636C"/>
                </a:solidFill>
                <a:latin typeface="Liberation Sans"/>
              </a:rPr>
              <a:t>Add, delete, month queries, totals, search, and persistence.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07791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400" b="1" i="0">
                <a:solidFill>
                  <a:srgbClr val="1B3A4B"/>
                </a:solidFill>
                <a:latin typeface="Liberation Sans"/>
              </a:rPr>
              <a:t>service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2907791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400" b="0" i="0">
                <a:solidFill>
                  <a:srgbClr val="1A1F26"/>
                </a:solidFill>
                <a:latin typeface="Liberation Sans"/>
              </a:rPr>
              <a:t>CategoryAggregator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2907791"/>
            <a:ext cx="5760720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400" b="0" i="0">
                <a:solidFill>
                  <a:srgbClr val="5A636C"/>
                </a:solidFill>
                <a:latin typeface="Liberation Sans"/>
              </a:rPr>
              <a:t>Sorted category totals and percentages for one month.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438144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400" b="1" i="0">
                <a:solidFill>
                  <a:srgbClr val="1B3A4B"/>
                </a:solidFill>
                <a:latin typeface="Liberation Sans"/>
              </a:rPr>
              <a:t>service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3438144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400" b="0" i="0">
                <a:solidFill>
                  <a:srgbClr val="1A1F26"/>
                </a:solidFill>
                <a:latin typeface="Liberation Sans"/>
              </a:rPr>
              <a:t>BudgetGoalTracker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3438144"/>
            <a:ext cx="5760720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400" b="0" i="0">
                <a:solidFill>
                  <a:srgbClr val="5A636C"/>
                </a:solidFill>
                <a:latin typeface="Liberation Sans"/>
              </a:rPr>
              <a:t>Set a limit, remove it, and compare it with actual spend.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968496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400" b="1" i="0">
                <a:solidFill>
                  <a:srgbClr val="1B3A4B"/>
                </a:solidFill>
                <a:latin typeface="Liberation Sans"/>
              </a:rPr>
              <a:t>export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3968496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400" b="0" i="0">
                <a:solidFill>
                  <a:srgbClr val="1A1F26"/>
                </a:solidFill>
                <a:latin typeface="Liberation Sans"/>
              </a:rPr>
              <a:t>CsvExportEngine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3968496"/>
            <a:ext cx="5760720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400" b="0" i="0">
                <a:solidFill>
                  <a:srgbClr val="5A636C"/>
                </a:solidFill>
                <a:latin typeface="Liberation Sans"/>
              </a:rPr>
              <a:t>Three-section monthly file written with BufferedWriter.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498848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400" b="1" i="0">
                <a:solidFill>
                  <a:srgbClr val="1B3A4B"/>
                </a:solidFill>
                <a:latin typeface="Liberation Sans"/>
              </a:rPr>
              <a:t>exception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4498848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400" b="0" i="0">
                <a:solidFill>
                  <a:srgbClr val="1A1F26"/>
                </a:solidFill>
                <a:latin typeface="Liberation Sans"/>
              </a:rPr>
              <a:t>Two checked types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4498848"/>
            <a:ext cx="5760720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400" b="0" i="0">
                <a:solidFill>
                  <a:srgbClr val="5A636C"/>
                </a:solidFill>
                <a:latin typeface="Liberation Sans"/>
              </a:rPr>
              <a:t>Invalid input, and a budget that has already been exceeded.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02920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400" b="1" i="0">
                <a:solidFill>
                  <a:srgbClr val="1B3A4B"/>
                </a:solidFill>
                <a:latin typeface="Liberation Sans"/>
              </a:rPr>
              <a:t>util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0" y="502920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400" b="0" i="0">
                <a:solidFill>
                  <a:srgbClr val="1A1F26"/>
                </a:solidFill>
                <a:latin typeface="Liberation Sans"/>
              </a:rPr>
              <a:t>DateUtils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5029200"/>
            <a:ext cx="5760720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400" b="0" i="0">
                <a:solidFill>
                  <a:srgbClr val="5A636C"/>
                </a:solidFill>
                <a:latin typeface="Liberation Sans"/>
              </a:rPr>
              <a:t>Parses dd-MM-yyyy. Tests whether a date falls in a YearMonth.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55955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400" b="1" i="0">
                <a:solidFill>
                  <a:srgbClr val="1B3A4B"/>
                </a:solidFill>
                <a:latin typeface="Liberation Sans"/>
              </a:rP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60320" y="5559552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400" b="0" i="0">
                <a:solidFill>
                  <a:srgbClr val="1A1F26"/>
                </a:solidFill>
                <a:latin typeface="Liberation Sans"/>
              </a:rPr>
              <a:t>Main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720" y="5559552"/>
            <a:ext cx="5760720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400" b="0" i="0">
                <a:solidFill>
                  <a:srgbClr val="5A636C"/>
                </a:solidFill>
                <a:latin typeface="Liberation Sans"/>
              </a:rPr>
              <a:t>Menu only. It constructs the four collaborators and prints their results.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6446520"/>
            <a:ext cx="10908792" cy="9525"/>
          </a:xfrm>
          <a:prstGeom prst="rect">
            <a:avLst/>
          </a:prstGeom>
          <a:solidFill>
            <a:srgbClr val="E2D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6510528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5A636C"/>
                </a:solidFill>
                <a:latin typeface="Liberation Sans"/>
              </a:rPr>
              <a:t>Personal Finance Tracker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9760" y="6510528"/>
            <a:ext cx="2039112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 i="0">
                <a:solidFill>
                  <a:srgbClr val="5A636C"/>
                </a:solidFill>
                <a:latin typeface="Liberation Sans"/>
              </a:rPr>
              <a:t>6  / 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91440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B3A4B"/>
                </a:solidFill>
                <a:latin typeface="Liberation Sans"/>
              </a:rPr>
              <a:t>THE SKILL THE BRIEF ASKS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200" b="0" i="0">
                <a:solidFill>
                  <a:srgbClr val="1A1F26"/>
                </a:solidFill>
                <a:latin typeface="Liberation Serif"/>
              </a:rPr>
              <a:t>Aggregation is a pipeline, not a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1A1F26"/>
                </a:solidFill>
                <a:latin typeface="Liberation Serif"/>
              </a:rPr>
              <a:t>Month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01952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5A636C"/>
                </a:solidFill>
                <a:latin typeface="Liberation Mono"/>
              </a:rPr>
              <a:t>filter by YearMonth, then sort by 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1A1F26"/>
                </a:solidFill>
                <a:latin typeface="Liberation Serif"/>
              </a:rPr>
              <a:t>Income and expense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01952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5A636C"/>
                </a:solidFill>
                <a:latin typeface="Liberation Mono"/>
              </a:rPr>
              <a:t>filter by type, mapToDouble, sum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97480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1A1F26"/>
                </a:solidFill>
                <a:latin typeface="Liberation Serif"/>
              </a:rPr>
              <a:t>Net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44952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5A636C"/>
                </a:solidFill>
                <a:latin typeface="Liberation Mono"/>
              </a:rPr>
              <a:t>income minus expense — one subtraction, two sums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697480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1A1F26"/>
                </a:solidFill>
                <a:latin typeface="Liberation Serif"/>
              </a:rPr>
              <a:t>By category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044952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5A636C"/>
                </a:solidFill>
                <a:latin typeface="Liberation Mono"/>
              </a:rPr>
              <a:t>groupingBy(category, summingDouble(amount))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40480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1A1F26"/>
                </a:solidFill>
                <a:latin typeface="Liberation Serif"/>
              </a:rPr>
              <a:t>Largest categories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187952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5A636C"/>
                </a:solidFill>
                <a:latin typeface="Liberation Mono"/>
              </a:rPr>
              <a:t>sort the map entries descending, then limit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840480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1A1F26"/>
                </a:solidFill>
                <a:latin typeface="Liberation Serif"/>
              </a:rPr>
              <a:t>Share of spend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187952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5A636C"/>
                </a:solidFill>
                <a:latin typeface="Liberation Mono"/>
              </a:rPr>
              <a:t>each total divided by the month’s expense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1A1F26"/>
                </a:solidFill>
                <a:latin typeface="Liberation Serif"/>
              </a:rPr>
              <a:t>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330952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5A636C"/>
                </a:solidFill>
                <a:latin typeface="Liberation Mono"/>
              </a:rPr>
              <a:t>description, lower-cased, contains the keyword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983480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1A1F26"/>
                </a:solidFill>
                <a:latin typeface="Liberation Serif"/>
              </a:rPr>
              <a:t>Order kept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330952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5A636C"/>
                </a:solidFill>
                <a:latin typeface="Liberation Mono"/>
              </a:rPr>
              <a:t>the category map is collected into a LinkedHashMap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446520"/>
            <a:ext cx="10908792" cy="9525"/>
          </a:xfrm>
          <a:prstGeom prst="rect">
            <a:avLst/>
          </a:prstGeom>
          <a:solidFill>
            <a:srgbClr val="E2D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510528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5A636C"/>
                </a:solidFill>
                <a:latin typeface="Liberation Sans"/>
              </a:rPr>
              <a:t>Personal Finance Tracker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6510528"/>
            <a:ext cx="2039112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 i="0">
                <a:solidFill>
                  <a:srgbClr val="5A636C"/>
                </a:solidFill>
                <a:latin typeface="Liberation Sans"/>
              </a:rPr>
              <a:t>7  / 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91440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B3A4B"/>
                </a:solidFill>
                <a:latin typeface="Liberation Sans"/>
              </a:rPr>
              <a:t>DOMAIN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200" b="0" i="0">
                <a:solidFill>
                  <a:srgbClr val="1A1F26"/>
                </a:solidFill>
                <a:latin typeface="Liberation Serif"/>
              </a:rPr>
              <a:t>Amount is always positive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5A636C"/>
                </a:solidFill>
                <a:latin typeface="Liberation Sans"/>
              </a:rPr>
              <a:t>The type already says whether the money came in or went out. Storing a negative amount would record the same fact twice.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00" b="0" i="0">
                <a:solidFill>
                  <a:srgbClr val="1B3A4B"/>
                </a:solidFill>
                <a:latin typeface="Liberation Mono"/>
              </a:rPr>
              <a:t>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2103120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500" b="0" i="0">
                <a:solidFill>
                  <a:srgbClr val="1A1F26"/>
                </a:solidFill>
                <a:latin typeface="Liberation Sans"/>
              </a:rPr>
              <a:t>Eight characters, assigned once.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00" b="0" i="0">
                <a:solidFill>
                  <a:srgbClr val="1B3A4B"/>
                </a:solidFill>
                <a:latin typeface="Liberation Mono"/>
              </a:rPr>
              <a:t>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743200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500" b="0" i="0">
                <a:solidFill>
                  <a:srgbClr val="1A1F26"/>
                </a:solidFill>
                <a:latin typeface="Liberation Sans"/>
              </a:rPr>
              <a:t>LocalDate. Compared as a date, not as text.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83279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00" b="0" i="0">
                <a:solidFill>
                  <a:srgbClr val="1B3A4B"/>
                </a:solidFill>
                <a:latin typeface="Liberation Mono"/>
              </a:rPr>
              <a:t>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3383279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500" b="0" i="0">
                <a:solidFill>
                  <a:srgbClr val="1A1F26"/>
                </a:solidFill>
                <a:latin typeface="Liberation Sans"/>
              </a:rPr>
              <a:t>INCOME or EXPENSE.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023359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00" b="0" i="0">
                <a:solidFill>
                  <a:srgbClr val="1B3A4B"/>
                </a:solidFill>
                <a:latin typeface="Liberation Mono"/>
              </a:rPr>
              <a:t>category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4023359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500" b="0" i="0">
                <a:solidFill>
                  <a:srgbClr val="1A1F26"/>
                </a:solidFill>
                <a:latin typeface="Liberation Sans"/>
              </a:rPr>
              <a:t>Free text. “Food” and “food” are different keys.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6344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00" b="0" i="0">
                <a:solidFill>
                  <a:srgbClr val="1B3A4B"/>
                </a:solidFill>
                <a:latin typeface="Liberation Mono"/>
              </a:rPr>
              <a:t>amount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4663440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500" b="0" i="0">
                <a:solidFill>
                  <a:srgbClr val="1A1F26"/>
                </a:solidFill>
                <a:latin typeface="Liberation Sans"/>
              </a:rPr>
              <a:t>Greater than zero. This is what the CSV prints.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30352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00" b="0" i="0">
                <a:solidFill>
                  <a:srgbClr val="1B3A4B"/>
                </a:solidFill>
                <a:latin typeface="Liberation Mono"/>
              </a:rPr>
              <a:t>description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5303520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500" b="0" i="0">
                <a:solidFill>
                  <a:srgbClr val="1A1F26"/>
                </a:solidFill>
                <a:latin typeface="Liberation Sans"/>
              </a:rPr>
              <a:t>Used only for search and the line-item export.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40880" y="2103120"/>
            <a:ext cx="13716" cy="3840480"/>
          </a:xfrm>
          <a:prstGeom prst="rect">
            <a:avLst/>
          </a:prstGeom>
          <a:solidFill>
            <a:srgbClr val="E2D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60920" y="210312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1A1F26"/>
                </a:solidFill>
                <a:latin typeface="Liberation Serif"/>
              </a:rPr>
              <a:t>Signed amount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2468880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5A636C"/>
                </a:solidFill>
                <a:latin typeface="Liberation Sans"/>
              </a:rPr>
              <a:t>Computed, never stored. Income stays positive. Expense is negated only inside getSignedAmount and the net-balance calculation.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342900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1A1F26"/>
                </a:solidFill>
                <a:latin typeface="Liberation Serif"/>
              </a:rPr>
              <a:t>Immutable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3794760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5A636C"/>
                </a:solidFill>
                <a:latin typeface="Liberation Sans"/>
              </a:rPr>
              <a:t>Every field is final. Two transactions are equal when their ids match.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4754879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1A1F26"/>
                </a:solidFill>
                <a:latin typeface="Liberation Serif"/>
              </a:rPr>
              <a:t>Serializable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5120639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5A636C"/>
                </a:solidFill>
                <a:latin typeface="Liberation Sans"/>
              </a:rPr>
              <a:t>The whole list is written with ObjectOutputStream to data/transactions.dat and read back on the next launch.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6446520"/>
            <a:ext cx="10908792" cy="9525"/>
          </a:xfrm>
          <a:prstGeom prst="rect">
            <a:avLst/>
          </a:prstGeom>
          <a:solidFill>
            <a:srgbClr val="E2D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6510528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5A636C"/>
                </a:solidFill>
                <a:latin typeface="Liberation Sans"/>
              </a:rPr>
              <a:t>Personal Finance Tracker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6510528"/>
            <a:ext cx="2039112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 i="0">
                <a:solidFill>
                  <a:srgbClr val="5A636C"/>
                </a:solidFill>
                <a:latin typeface="Liberation Sans"/>
              </a:rPr>
              <a:t>8  / 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91440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B3A4B"/>
                </a:solidFill>
                <a:latin typeface="Liberation Sans"/>
              </a:rPr>
              <a:t>RUNTIME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200" b="0" i="0">
                <a:solidFill>
                  <a:srgbClr val="1A1F26"/>
                </a:solidFill>
                <a:latin typeface="Liberation Serif"/>
              </a:rPr>
              <a:t>Adding an expense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0" i="0">
                <a:solidFill>
                  <a:srgbClr val="1B3A4B"/>
                </a:solidFill>
                <a:latin typeface="Liberation Serif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46304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1A1F26"/>
                </a:solidFill>
                <a:latin typeface="Liberation Serif"/>
              </a:rPr>
              <a:t>Enter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03320" y="1463040"/>
            <a:ext cx="777240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5A636C"/>
                </a:solidFill>
                <a:latin typeface="Liberation Sans"/>
              </a:rPr>
              <a:t>Date, description, category, amount, and type. An empty date means today.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95728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0" i="0">
                <a:solidFill>
                  <a:srgbClr val="1B3A4B"/>
                </a:solidFill>
                <a:latin typeface="Liberation Serif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39572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1A1F26"/>
                </a:solidFill>
                <a:latin typeface="Liberation Serif"/>
              </a:rPr>
              <a:t>Reject early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2395728"/>
            <a:ext cx="777240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5A636C"/>
                </a:solidFill>
                <a:latin typeface="Liberation Sans"/>
              </a:rPr>
              <a:t>Blank text, a non-positive amount, or a date more than seven days ahead throws InvalidTransactionException. Nothing is saved.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28416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0" i="0">
                <a:solidFill>
                  <a:srgbClr val="1B3A4B"/>
                </a:solidFill>
                <a:latin typeface="Liberation Serif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328416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1A1F26"/>
                </a:solidFill>
                <a:latin typeface="Liberation Serif"/>
              </a:rPr>
              <a:t>Append and write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3328416"/>
            <a:ext cx="777240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5A636C"/>
                </a:solidFill>
                <a:latin typeface="Liberation Sans"/>
              </a:rPr>
              <a:t>A Transaction is added and the full list is serialized. The write is the persistence step, not a side effect hidden in the model.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61104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0" i="0">
                <a:solidFill>
                  <a:srgbClr val="1B3A4B"/>
                </a:solidFill>
                <a:latin typeface="Liberation Serif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261104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1A1F26"/>
                </a:solidFill>
                <a:latin typeface="Liberation Serif"/>
              </a:rPr>
              <a:t>Warn, do not undo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4261104"/>
            <a:ext cx="777240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5A636C"/>
                </a:solidFill>
                <a:latin typeface="Liberation Sans"/>
              </a:rPr>
              <a:t>If that category already has a limit and the month is over it, BudgetExceededException is printed. The transaction stays.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193792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0" i="0">
                <a:solidFill>
                  <a:srgbClr val="1B3A4B"/>
                </a:solidFill>
                <a:latin typeface="Liberation Serif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19379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1A1F26"/>
                </a:solidFill>
                <a:latin typeface="Liberation Serif"/>
              </a:rPr>
              <a:t>Read later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5193792"/>
            <a:ext cx="777240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5A636C"/>
                </a:solidFill>
                <a:latin typeface="Liberation Sans"/>
              </a:rPr>
              <a:t>The monthly summary, the category table, and the CSV all filter the same list. They do not keep a second copy of the totals.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6446520"/>
            <a:ext cx="10908792" cy="9525"/>
          </a:xfrm>
          <a:prstGeom prst="rect">
            <a:avLst/>
          </a:prstGeom>
          <a:solidFill>
            <a:srgbClr val="E2D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6510528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5A636C"/>
                </a:solidFill>
                <a:latin typeface="Liberation Sans"/>
              </a:rPr>
              <a:t>Personal Finance Tracker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6510528"/>
            <a:ext cx="2039112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 i="0">
                <a:solidFill>
                  <a:srgbClr val="5A636C"/>
                </a:solidFill>
                <a:latin typeface="Liberation Sans"/>
              </a:rPr>
              <a:t>9  / 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91440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B3A4B"/>
                </a:solidFill>
                <a:latin typeface="Liberation Sans"/>
              </a:rPr>
              <a:t>WORKED EXAMPLE  ·  ILLUSTRATIVE OCTOBER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200" b="0" i="0">
                <a:solidFill>
                  <a:srgbClr val="1A1F26"/>
                </a:solidFill>
                <a:latin typeface="Liberation Serif"/>
              </a:rPr>
              <a:t>Income, spending, and what was saved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5A636C"/>
                </a:solidFill>
                <a:latin typeface="Liberation Sans"/>
              </a:rPr>
              <a:t>Saved = income − expense.  Savings rate = saved ÷ income.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11480" y="1737360"/>
          <a:ext cx="6949440" cy="4434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589520" y="1783080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>
                <a:solidFill>
                  <a:srgbClr val="1B3A4B"/>
                </a:solidFill>
                <a:latin typeface="Liberation Sans"/>
              </a:rPr>
              <a:t>INCOME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2039112"/>
            <a:ext cx="402336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0" i="0">
                <a:solidFill>
                  <a:srgbClr val="1A1F26"/>
                </a:solidFill>
                <a:latin typeface="Liberation Serif"/>
              </a:rPr>
              <a:t>72,000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2532888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5A636C"/>
                </a:solidFill>
                <a:latin typeface="Liberation Sans"/>
              </a:rPr>
              <a:t>Everything recorded as INCOME this month.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3200400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>
                <a:solidFill>
                  <a:srgbClr val="1B3A4B"/>
                </a:solidFill>
                <a:latin typeface="Liberation Sans"/>
              </a:rPr>
              <a:t>EXPENSE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456432"/>
            <a:ext cx="402336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0" i="0">
                <a:solidFill>
                  <a:srgbClr val="1A1F26"/>
                </a:solidFill>
                <a:latin typeface="Liberation Serif"/>
              </a:rPr>
              <a:t>41,250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3950208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5A636C"/>
                </a:solidFill>
                <a:latin typeface="Liberation Sans"/>
              </a:rPr>
              <a:t>57.3% of income. This is what left the account.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4617720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>
                <a:solidFill>
                  <a:srgbClr val="1B3A4B"/>
                </a:solidFill>
                <a:latin typeface="Liberation Sans"/>
              </a:rPr>
              <a:t>SAVED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4873752"/>
            <a:ext cx="402336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0" i="0">
                <a:solidFill>
                  <a:srgbClr val="1A1F26"/>
                </a:solidFill>
                <a:latin typeface="Liberation Serif"/>
              </a:rPr>
              <a:t>30,750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5367528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5A636C"/>
                </a:solidFill>
                <a:latin typeface="Liberation Sans"/>
              </a:rPr>
              <a:t>42.7% kept. Net balance on the summary screen.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6446520"/>
            <a:ext cx="10908792" cy="9525"/>
          </a:xfrm>
          <a:prstGeom prst="rect">
            <a:avLst/>
          </a:prstGeom>
          <a:solidFill>
            <a:srgbClr val="E2D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6510528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5A636C"/>
                </a:solidFill>
                <a:latin typeface="Liberation Sans"/>
              </a:rPr>
              <a:t>Personal Finance Tracker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6510528"/>
            <a:ext cx="2039112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 i="0">
                <a:solidFill>
                  <a:srgbClr val="5A636C"/>
                </a:solidFill>
                <a:latin typeface="Liberation Sans"/>
              </a:rPr>
              <a:t>10  / 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91440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B3A4B"/>
                </a:solidFill>
                <a:latin typeface="Liberation Sans"/>
              </a:rPr>
              <a:t>WHERE THE 41,250 WENT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200" b="0" i="0">
                <a:solidFill>
                  <a:srgbClr val="1A1F26"/>
                </a:solidFill>
                <a:latin typeface="Liberation Serif"/>
              </a:rPr>
              <a:t>Spending by category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5A636C"/>
                </a:solidFill>
                <a:latin typeface="Liberation Sans"/>
              </a:rPr>
              <a:t>Same grouping the program prints: category total, then share of expense.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20040" y="1554480"/>
          <a:ext cx="603504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675120" y="1783080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B3A4B"/>
                </a:solidFill>
                <a:latin typeface="Liberation Sans"/>
              </a:rPr>
              <a:t>CATEGORY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1783080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B3A4B"/>
                </a:solidFill>
                <a:latin typeface="Liberation Sans"/>
              </a:rPr>
              <a:t>RUPEES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178308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B3A4B"/>
                </a:solidFill>
                <a:latin typeface="Liberation Sans"/>
              </a:rPr>
              <a:t>SHARE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2121408"/>
            <a:ext cx="4846320" cy="9525"/>
          </a:xfrm>
          <a:prstGeom prst="rect">
            <a:avLst/>
          </a:prstGeom>
          <a:solidFill>
            <a:srgbClr val="E2D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75120" y="2340864"/>
            <a:ext cx="164592" cy="16459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22860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1A1F26"/>
                </a:solidFill>
                <a:latin typeface="Liberation Serif"/>
              </a:rPr>
              <a:t>Rent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22860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1A1F26"/>
                </a:solidFill>
                <a:latin typeface="Liberation Sans"/>
              </a:rPr>
              <a:t>18,000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228600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 i="0">
                <a:solidFill>
                  <a:srgbClr val="1B3A4B"/>
                </a:solidFill>
                <a:latin typeface="Liberation Sans"/>
              </a:rPr>
              <a:t>43.6%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0" y="2999232"/>
            <a:ext cx="164592" cy="164592"/>
          </a:xfrm>
          <a:prstGeom prst="rect">
            <a:avLst/>
          </a:prstGeom>
          <a:solidFill>
            <a:srgbClr val="2F6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95160" y="294436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1A1F26"/>
                </a:solidFill>
                <a:latin typeface="Liberation Serif"/>
              </a:rPr>
              <a:t>Food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294436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1A1F26"/>
                </a:solidFill>
                <a:latin typeface="Liberation Sans"/>
              </a:rPr>
              <a:t>9,400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2944368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 i="0">
                <a:solidFill>
                  <a:srgbClr val="1B3A4B"/>
                </a:solidFill>
                <a:latin typeface="Liberation Sans"/>
              </a:rPr>
              <a:t>22.8%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0" y="3657600"/>
            <a:ext cx="164592" cy="16459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95160" y="3602736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1A1F26"/>
                </a:solidFill>
                <a:latin typeface="Liberation Serif"/>
              </a:rPr>
              <a:t>Transport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3602736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1A1F26"/>
                </a:solidFill>
                <a:latin typeface="Liberation Sans"/>
              </a:rPr>
              <a:t>6,200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3602736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 i="0">
                <a:solidFill>
                  <a:srgbClr val="1B3A4B"/>
                </a:solidFill>
                <a:latin typeface="Liberation Sans"/>
              </a:rPr>
              <a:t>15.0%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75120" y="4315968"/>
            <a:ext cx="164592" cy="164592"/>
          </a:xfrm>
          <a:prstGeom prst="rect">
            <a:avLst/>
          </a:prstGeom>
          <a:solidFill>
            <a:srgbClr val="8C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95160" y="426110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1A1F26"/>
                </a:solidFill>
                <a:latin typeface="Liberation Serif"/>
              </a:rPr>
              <a:t>Utilities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4261104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1A1F26"/>
                </a:solidFill>
                <a:latin typeface="Liberation Sans"/>
              </a:rPr>
              <a:t>4,150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4261104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 i="0">
                <a:solidFill>
                  <a:srgbClr val="1B3A4B"/>
                </a:solidFill>
                <a:latin typeface="Liberation Sans"/>
              </a:rPr>
              <a:t>10.1%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4974336"/>
            <a:ext cx="164592" cy="164592"/>
          </a:xfrm>
          <a:prstGeom prst="rect">
            <a:avLst/>
          </a:prstGeom>
          <a:solidFill>
            <a:srgbClr val="8A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95160" y="491947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1A1F26"/>
                </a:solidFill>
                <a:latin typeface="Liberation Serif"/>
              </a:rPr>
              <a:t>Other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491947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1A1F26"/>
                </a:solidFill>
                <a:latin typeface="Liberation Sans"/>
              </a:rPr>
              <a:t>3,500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0" y="4919472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 i="0">
                <a:solidFill>
                  <a:srgbClr val="1B3A4B"/>
                </a:solidFill>
                <a:latin typeface="Liberation Sans"/>
              </a:rPr>
              <a:t>8.5%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5669280"/>
            <a:ext cx="484632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5A636C"/>
                </a:solidFill>
                <a:latin typeface="Liberation Sans"/>
              </a:rPr>
              <a:t>Rent alone is almost half of spending. Food and transport together are another 38%.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6446520"/>
            <a:ext cx="10908792" cy="9525"/>
          </a:xfrm>
          <a:prstGeom prst="rect">
            <a:avLst/>
          </a:prstGeom>
          <a:solidFill>
            <a:srgbClr val="E2D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6510528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5A636C"/>
                </a:solidFill>
                <a:latin typeface="Liberation Sans"/>
              </a:rPr>
              <a:t>Personal Finance Tracker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0" y="6510528"/>
            <a:ext cx="2039112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 i="0">
                <a:solidFill>
                  <a:srgbClr val="5A636C"/>
                </a:solidFill>
                <a:latin typeface="Liberation Sans"/>
              </a:rPr>
              <a:t>11  / 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91440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B3A4B"/>
                </a:solidFill>
                <a:latin typeface="Liberation Sans"/>
              </a:rPr>
              <a:t>THE FILE SOMEONE ELSE OPENS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200" b="0" i="0">
                <a:solidFill>
                  <a:srgbClr val="1A1F26"/>
                </a:solidFill>
                <a:latin typeface="Liberation Serif"/>
              </a:rPr>
              <a:t>Three sections, one 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5A636C"/>
                </a:solidFill>
                <a:latin typeface="Liberation Mono"/>
              </a:rPr>
              <a:t>exports/Financial_Summary_YYYY-MM.csv  —  written with BufferedWriter, no library.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0" i="0">
                <a:solidFill>
                  <a:srgbClr val="1B3A4B"/>
                </a:solidFill>
                <a:latin typeface="Liberation Serif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01168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0" i="0">
                <a:solidFill>
                  <a:srgbClr val="1A1F26"/>
                </a:solidFill>
                <a:latin typeface="Liberation Serif"/>
              </a:rPr>
              <a:t>Snapshot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80"/>
            <a:ext cx="987552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5A636C"/>
                </a:solidFill>
                <a:latin typeface="Liberation Sans"/>
              </a:rPr>
              <a:t>Income, expense, and net balance. Placed first so the result is visible before the detail.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0" i="0">
                <a:solidFill>
                  <a:srgbClr val="1B3A4B"/>
                </a:solidFill>
                <a:latin typeface="Liberation Serif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38328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0" i="0">
                <a:solidFill>
                  <a:srgbClr val="1A1F26"/>
                </a:solidFill>
                <a:latin typeface="Liberation Serif"/>
              </a:rPr>
              <a:t>Categories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840480"/>
            <a:ext cx="987552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5A636C"/>
                </a:solidFill>
                <a:latin typeface="Liberation Sans"/>
              </a:rPr>
              <a:t>Name, amount, percentage. The order is the aggregator’s order: largest spend first.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75488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0" i="0">
                <a:solidFill>
                  <a:srgbClr val="1B3A4B"/>
                </a:solidFill>
                <a:latin typeface="Liberation Serif"/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75488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0" i="0">
                <a:solidFill>
                  <a:srgbClr val="1A1F26"/>
                </a:solidFill>
                <a:latin typeface="Liberation Serif"/>
              </a:rPr>
              <a:t>Transactions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5212080"/>
            <a:ext cx="987552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5A636C"/>
                </a:solidFill>
                <a:latin typeface="Liberation Sans"/>
              </a:rPr>
              <a:t>Id, date, type, category, amount, description. Descriptions are quoted so a comma inside a note does not split the row.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6446520"/>
            <a:ext cx="10908792" cy="9525"/>
          </a:xfrm>
          <a:prstGeom prst="rect">
            <a:avLst/>
          </a:prstGeom>
          <a:solidFill>
            <a:srgbClr val="E2D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6510528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5A636C"/>
                </a:solidFill>
                <a:latin typeface="Liberation Sans"/>
              </a:rPr>
              <a:t>Personal Finance Tracker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6510528"/>
            <a:ext cx="2039112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 i="0">
                <a:solidFill>
                  <a:srgbClr val="5A636C"/>
                </a:solidFill>
                <a:latin typeface="Liberation Sans"/>
              </a:rPr>
              <a:t>12  / 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91440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B3A4B"/>
                </a:solidFill>
                <a:latin typeface="Liberation Sans"/>
              </a:rPr>
              <a:t>VIVA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200" b="0" i="0">
                <a:solidFill>
                  <a:srgbClr val="1A1F26"/>
                </a:solidFill>
                <a:latin typeface="Liberation Serif"/>
              </a:rPr>
              <a:t>Four answers worth having ready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44752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1A1F26"/>
                </a:solidFill>
                <a:latin typeface="Liberation Serif"/>
              </a:rPr>
              <a:t>Why streams, not a for-loop?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92224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5A636C"/>
                </a:solidFill>
                <a:latin typeface="Liberation Sans"/>
              </a:rPr>
              <a:t>groupingBy plus summingDouble replaces a HashMap that the programmer has to update by hand. The filter for a month is the same pipeline the totals and the export both use.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33472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1A1F26"/>
                </a:solidFill>
                <a:latin typeface="Liberation Serif"/>
              </a:rPr>
              <a:t>Why is the stored amount positive?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80944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5A636C"/>
                </a:solidFill>
                <a:latin typeface="Liberation Sans"/>
              </a:rPr>
              <a:t>Type already distinguishes income from expense. A stored minus sign would make the CSV totals and the on-screen amount disagree with what the user typed.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22191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1A1F26"/>
                </a:solidFill>
                <a:latin typeface="Liberation Serif"/>
              </a:rPr>
              <a:t>Why is there no database?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69663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5A636C"/>
                </a:solidFill>
                <a:latin typeface="Liberation Sans"/>
              </a:rPr>
              <a:t>The brief asks for file I/O and a CSV. Object serialization keeps that I/O visible. A database would hide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010912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1A1F26"/>
                </a:solidFill>
                <a:latin typeface="Liberation Serif"/>
              </a:rPr>
              <a:t>What would you not ship?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58384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5A636C"/>
                </a:solidFill>
                <a:latin typeface="Liberation Sans"/>
              </a:rPr>
              <a:t>Budgets are not persisted. Category names are case-sensitive. The data file is not locked and not encrypted. The program is single-user.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446520"/>
            <a:ext cx="10908792" cy="9525"/>
          </a:xfrm>
          <a:prstGeom prst="rect">
            <a:avLst/>
          </a:prstGeom>
          <a:solidFill>
            <a:srgbClr val="E2D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510528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5A636C"/>
                </a:solidFill>
                <a:latin typeface="Liberation Sans"/>
              </a:rPr>
              <a:t>Personal Finance Tracker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6510528"/>
            <a:ext cx="2039112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 i="0">
                <a:solidFill>
                  <a:srgbClr val="5A636C"/>
                </a:solidFill>
                <a:latin typeface="Liberation Sans"/>
              </a:rPr>
              <a:t>13  / 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